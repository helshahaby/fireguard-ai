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Reveal the product name first, then subtitle, tagline, and presenter name with one click per item if adding native PowerPoint animations. Explain that this is a decision-support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Reveal the three pain points one at a time. Emphasise fragmented situational awareness, uncertainty, and finite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Reveal Simulate, Compare, Coordinate, Explain in sequence. Stress that every strategy uses the same baseline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Reveal impact points one by one. Avoid claims of proven real-world response-time or lives-saved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Live demo. Load scenario, compare, change one variable, rerun, inspect explanation, export. Keep this under 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Pause for questions. Ask judges which data source or operational workflow they would validate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730"/>
          </a:solidFill>
          <a:ln>
            <a:solidFill>
              <a:srgbClr val="FF7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58368"/>
            <a:ext cx="3794760" cy="310896"/>
          </a:xfrm>
          <a:prstGeom prst="roundRect">
            <a:avLst/>
          </a:prstGeom>
          <a:solidFill>
            <a:srgbClr val="FF7730"/>
          </a:solidFill>
          <a:ln>
            <a:solidFill>
              <a:srgbClr val="FF7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690372"/>
            <a:ext cx="364845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Aptos"/>
              </a:rPr>
              <a:t>HACK4GUIMARÃES 2035  •  PROTECTION &amp;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640080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700" b="1">
                <a:solidFill>
                  <a:srgbClr val="F5F8FC"/>
                </a:solidFill>
                <a:latin typeface="Aptos"/>
              </a:rPr>
              <a:t>FIREGUARD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481328"/>
            <a:ext cx="105156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700" b="1">
                <a:solidFill>
                  <a:srgbClr val="FF7730"/>
                </a:solidFill>
                <a:latin typeface="Aptos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87168"/>
            <a:ext cx="6949440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Wildfire Response Simulation
&amp; Multi-Agency Decision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822191"/>
            <a:ext cx="6629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38BDF8"/>
                </a:solidFill>
                <a:latin typeface="Aptos"/>
              </a:rPr>
              <a:t>Simulate before you deploy. Coordinate before minutes are lost.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520440" cy="4160520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691640"/>
            <a:ext cx="1188720" cy="73152"/>
          </a:xfrm>
          <a:prstGeom prst="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1947672"/>
            <a:ext cx="1188720" cy="73152"/>
          </a:xfrm>
          <a:prstGeom prst="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89719" y="2203704"/>
            <a:ext cx="1188720" cy="73152"/>
          </a:xfrm>
          <a:prstGeom prst="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92640" y="2459736"/>
            <a:ext cx="1188720" cy="73152"/>
          </a:xfrm>
          <a:prstGeom prst="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95559" y="2715768"/>
            <a:ext cx="1188720" cy="73152"/>
          </a:xfrm>
          <a:prstGeom prst="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103120"/>
            <a:ext cx="73152" cy="1645920"/>
          </a:xfrm>
          <a:prstGeom prst="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19" y="2542032"/>
            <a:ext cx="73152" cy="1645920"/>
          </a:xfrm>
          <a:prstGeom prst="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2980944"/>
            <a:ext cx="73152" cy="1645920"/>
          </a:xfrm>
          <a:prstGeom prst="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3419856"/>
            <a:ext cx="73152" cy="1645920"/>
          </a:xfrm>
          <a:prstGeom prst="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2331720"/>
            <a:ext cx="1920240" cy="182880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0" y="2651760"/>
            <a:ext cx="1280160" cy="1234440"/>
          </a:xfrm>
          <a:prstGeom prst="ellipse">
            <a:avLst/>
          </a:prstGeom>
          <a:solidFill>
            <a:srgbClr val="FF7730"/>
          </a:solidFill>
          <a:ln>
            <a:solidFill>
              <a:srgbClr val="FF7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5440" y="2999232"/>
            <a:ext cx="566928" cy="548640"/>
          </a:xfrm>
          <a:prstGeom prst="ellipse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709160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ACC15"/>
                </a:solidFill>
                <a:latin typeface="Aptos"/>
              </a:rPr>
              <a:t>SIMULATED INCIDENT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166360"/>
            <a:ext cx="5943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Presented by Hossam Elshahaby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5961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6B4C7"/>
                </a:solidFill>
                <a:latin typeface="Aptos"/>
              </a:rPr>
              <a:t>Guimarães region • Scenario-based 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9692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ACC15"/>
                </a:solidFill>
                <a:latin typeface="Aptos"/>
              </a:rPr>
              <a:t>TRAINING / SIMULATION MODE — NOT FOR REAL-WORLD DISPATCH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6519672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6B4C7"/>
                </a:solidFill>
                <a:latin typeface="Aptos"/>
              </a:rPr>
              <a:t>Hossam Elshahaby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FIREGUARD AI  /  HACK4GUIMARÃES 2035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56032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02  •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In a wildfire, the first minutes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6B4C7"/>
                </a:solidFill>
                <a:latin typeface="Aptos"/>
              </a:rPr>
              <a:t>Disconnected information makes coordinated decisions harder when conditions are changing.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3502152" cy="2971800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04288"/>
            <a:ext cx="594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852928"/>
            <a:ext cx="3017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FRAGMENTED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493008"/>
            <a:ext cx="29260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A6B4C7"/>
                </a:solidFill>
                <a:latin typeface="Aptos"/>
              </a:rPr>
              <a:t>Agencies may hold different views of the incident, resources and access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502152" cy="2971800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04288"/>
            <a:ext cx="594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77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52928"/>
            <a:ext cx="3017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UNCERTAIN CONSEQUENCES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93008"/>
            <a:ext cx="29260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A6B4C7"/>
                </a:solidFill>
                <a:latin typeface="Aptos"/>
              </a:rPr>
              <a:t>Teams need to compare options before committing scarce resources.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1" y="2057400"/>
            <a:ext cx="3502152" cy="2971800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1" y="2304288"/>
            <a:ext cx="594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ACC15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2852928"/>
            <a:ext cx="3017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RESOURCE TRADE-OFFS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3493008"/>
            <a:ext cx="29260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A6B4C7"/>
                </a:solidFill>
                <a:latin typeface="Aptos"/>
              </a:rPr>
              <a:t>Protecting communities, containing spread and maintaining access compete for attention.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349240"/>
            <a:ext cx="11064240" cy="640080"/>
          </a:xfrm>
          <a:prstGeom prst="round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22976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7730"/>
                </a:solidFill>
                <a:latin typeface="Aptos"/>
              </a:rPr>
              <a:t>THE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468112"/>
            <a:ext cx="9418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A shared, explainable way to test response strategies against the same evolving scenario.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9692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ACC15"/>
                </a:solidFill>
                <a:latin typeface="Aptos"/>
              </a:rPr>
              <a:t>TRAINING / SIMULATION MODE — NOT FOR REAL-WORLD 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6519672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6B4C7"/>
                </a:solidFill>
                <a:latin typeface="Aptos"/>
              </a:rPr>
              <a:t>Hossam Elshahaby  •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FIREGUARD AI  /  HACK4GUIMARÃES 2035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56032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03  •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One scenario. Three strategies. Clearer trade-offs.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6B4C7"/>
                </a:solidFill>
                <a:latin typeface="Aptos"/>
              </a:rPr>
              <a:t>FIREGUARD AI combines a simulated incident map, response options and transparent comparison.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5193792" cy="1298448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2057400"/>
            <a:ext cx="82296" cy="1298448"/>
          </a:xfrm>
          <a:prstGeom prst="rect">
            <a:avLst/>
          </a:prstGeom>
          <a:solidFill>
            <a:srgbClr val="FF7730"/>
          </a:solidFill>
          <a:ln>
            <a:solidFill>
              <a:srgbClr val="FF7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58568"/>
            <a:ext cx="4526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7730"/>
                </a:solidFill>
                <a:latin typeface="Aptos"/>
              </a:rPr>
              <a:t>01  SIMULATE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51760"/>
            <a:ext cx="4553712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Time-stepped wildfire scenario with wind, humidity, temperature and slope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193792" cy="1298448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57400"/>
            <a:ext cx="82296" cy="129844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258568"/>
            <a:ext cx="4526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02  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651760"/>
            <a:ext cx="4553712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Rapid containment, community protection and balanced multi-agency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85032"/>
            <a:ext cx="5193792" cy="1298448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3685032"/>
            <a:ext cx="82296" cy="1298448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86200"/>
            <a:ext cx="4526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Aptos"/>
              </a:rPr>
              <a:t>03  COORDINATE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279392"/>
            <a:ext cx="4553712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Illustrative crews, engines, water/medical resources, roads and agency timeline.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85032"/>
            <a:ext cx="5193792" cy="1298448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85032"/>
            <a:ext cx="82296" cy="1298448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526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  <a:latin typeface="Aptos"/>
              </a:rPr>
              <a:t>04  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279392"/>
            <a:ext cx="4553712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Computed metrics, sensitivity checks, assumptions and an AI-style analyst panel.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235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Human-in-the-loop by design: recommendations are decision support, not autonomous dispatch.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9692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ACC15"/>
                </a:solidFill>
                <a:latin typeface="Aptos"/>
              </a:rPr>
              <a:t>TRAINING / SIMULATION MODE — NOT FOR REAL-WORLD 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519672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6B4C7"/>
                </a:solidFill>
                <a:latin typeface="Aptos"/>
              </a:rPr>
              <a:t>Hossam Elshahaby  •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FIREGUARD AI  /  HACK4GUIMARÃES 2035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56032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04  •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Turn fragmented inputs into testable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6B4C7"/>
                </a:solidFill>
                <a:latin typeface="Aptos"/>
              </a:rPr>
              <a:t>Designed for preparedness exercises, training and structured scenario discussion.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965960"/>
            <a:ext cx="5120640" cy="3611880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7730"/>
                </a:solidFill>
                <a:latin typeface="Aptos"/>
              </a:rPr>
              <a:t>HOW IT 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2011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773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743200"/>
            <a:ext cx="42702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Compare options before committing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64992"/>
            <a:ext cx="2011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773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364992"/>
            <a:ext cx="42702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Reveal trade-offs between containment and community protection.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986784"/>
            <a:ext cx="2011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7730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986784"/>
            <a:ext cx="42702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Make resource constraints and assumptions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608576"/>
            <a:ext cx="2011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773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608576"/>
            <a:ext cx="42702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Create a shared incident timeline and auditable decision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1965960"/>
            <a:ext cx="5532120" cy="3611880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240280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WHAT SUCCESS LOOKS LIKE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743200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2743200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FASTER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743200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One shared simulated picture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383280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383280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BETTER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383280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Same baseline; alternative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023360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4023360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MORE TRANSPARENCY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023360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Results, assumptions and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663440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4663440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REUSABLE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663440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Exportable report for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33872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ACC15"/>
                </a:solidFill>
                <a:latin typeface="Aptos"/>
              </a:rPr>
              <a:t>Impact is demonstrated through scenario comparisons—not claims of operational prediction accuracy.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9692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ACC15"/>
                </a:solidFill>
                <a:latin typeface="Aptos"/>
              </a:rPr>
              <a:t>TRAINING / SIMULATION MODE — NOT FOR REAL-WORLD DISPATCH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6519672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6B4C7"/>
                </a:solidFill>
                <a:latin typeface="Aptos"/>
              </a:rPr>
              <a:t>Hossam Elshahaby  •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FIREGUARD AI  /  HACK4GUIMARÃES 2035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56032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05  •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F5F8FC"/>
                </a:solidFill>
                <a:latin typeface="Aptos"/>
              </a:rPr>
              <a:t>From scenario to decision in 90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6B4C7"/>
                </a:solidFill>
                <a:latin typeface="Aptos"/>
              </a:rPr>
              <a:t>Open the working prototype and follow this short judge walkthrough.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6629400" cy="3566160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773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5349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Load a Guimarães-region simulated incident.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773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52928"/>
            <a:ext cx="5349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Inspect ignition, weather, access roads and resources.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3814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7730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38144"/>
            <a:ext cx="5349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Run the baseline and compare three response strategies.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7730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23360"/>
            <a:ext cx="5349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Increase wind or remove a resource; rerun the comparison.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0857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7730"/>
                </a:solidFill>
                <a:latin typeface="Aptos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08576"/>
            <a:ext cx="5349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Review the explanation and export the report.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965960"/>
            <a:ext cx="3840480" cy="3566160"/>
          </a:xfrm>
          <a:prstGeom prst="roundRect">
            <a:avLst/>
          </a:prstGeom>
          <a:solidFill>
            <a:srgbClr val="1C293D"/>
          </a:solidFill>
          <a:ln>
            <a:solidFill>
              <a:srgbClr val="1C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2359152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38BDF8"/>
                </a:solidFill>
                <a:latin typeface="Aptos"/>
              </a:rPr>
              <a:t>OPEN THE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971800"/>
            <a:ext cx="329184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guimaraes-wildfire-watch
.lovable.app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160520"/>
            <a:ext cx="3291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A6B4C7"/>
                </a:solidFill>
                <a:latin typeface="Aptos"/>
              </a:rPr>
              <a:t>Interactive scenario • Strategy comparison
Map layers • Simulated resources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4983480"/>
            <a:ext cx="2057400" cy="310896"/>
          </a:xfrm>
          <a:prstGeom prst="round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5015484"/>
            <a:ext cx="1911095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Aptos"/>
              </a:rPr>
              <a:t>SIMULATION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06440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7730"/>
                </a:solidFill>
                <a:latin typeface="Aptos"/>
              </a:rPr>
              <a:t>Demo tip: highlight one meaningful trade-off, not every feature.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9692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ACC15"/>
                </a:solidFill>
                <a:latin typeface="Aptos"/>
              </a:rPr>
              <a:t>TRAINING / SIMULATION MODE — NOT FOR REAL-WORLD 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519672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6B4C7"/>
                </a:solidFill>
                <a:latin typeface="Aptos"/>
              </a:rPr>
              <a:t>Hossam Elshahaby  •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730"/>
          </a:solidFill>
          <a:ln>
            <a:solidFill>
              <a:srgbClr val="FF7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713232"/>
            <a:ext cx="2423160" cy="310896"/>
          </a:xfrm>
          <a:prstGeom prst="roundRect">
            <a:avLst/>
          </a:prstGeom>
          <a:solidFill>
            <a:srgbClr val="FF7730"/>
          </a:solidFill>
          <a:ln>
            <a:solidFill>
              <a:srgbClr val="FF7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745236"/>
            <a:ext cx="227685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Aptos"/>
              </a:rPr>
              <a:t>HACK4GUIMARÃES 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08760"/>
            <a:ext cx="60350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800" b="1">
                <a:solidFill>
                  <a:srgbClr val="F5F8FC"/>
                </a:solidFill>
                <a:latin typeface="Aptos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06040"/>
            <a:ext cx="6217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38BDF8"/>
                </a:solidFill>
                <a:latin typeface="Apto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703320"/>
            <a:ext cx="3931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FIREGUARD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187952"/>
            <a:ext cx="5394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A6B4C7"/>
                </a:solidFill>
                <a:latin typeface="Aptos"/>
              </a:rPr>
              <a:t>Simulate before you deploy.
Coordinate before minutes are lost.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234440"/>
            <a:ext cx="4069080" cy="4160520"/>
          </a:xfrm>
          <a:prstGeom prst="roundRect">
            <a:avLst/>
          </a:prstGeom>
          <a:solidFill>
            <a:srgbClr val="162031"/>
          </a:solidFill>
          <a:ln>
            <a:solidFill>
              <a:srgbClr val="16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627632"/>
            <a:ext cx="3383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7730"/>
                </a:solidFill>
                <a:latin typeface="Aptos"/>
              </a:rPr>
              <a:t>DISCUSS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4028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12848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What changes the outcome most?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8620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834640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How can agencies share a common picture?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483864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456432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What data would validate this model?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105656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078224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What should a human verify before acting?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669280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Presented by Hossam Elshahaby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9692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ACC15"/>
                </a:solidFill>
                <a:latin typeface="Aptos"/>
              </a:rPr>
              <a:t>TRAINING / SIMULATION MODE — NOT FOR REAL-WORLD DISPATCH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519672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6B4C7"/>
                </a:solidFill>
                <a:latin typeface="Aptos"/>
              </a:rPr>
              <a:t>Hossam Elshahaby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FIREGUARD AI — Hack4Guimarães 2035</dc:title>
  <dc:subject>Wildfire response simulation and multi-agency decision intelligence</dc:subject>
  <dc:creator>Hossam Elshahaby</dc:creator>
  <cp:keywords>Hack4Guimarães 2035, wildfire, simulation, emergency response, decision support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